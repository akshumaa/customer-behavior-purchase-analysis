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2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-876" y="-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12192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8140701" y="0"/>
            <a:ext cx="40513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72085" y="3337560"/>
            <a:ext cx="8640064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77400" y="1544812"/>
            <a:ext cx="8640064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12192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8140701" y="0"/>
            <a:ext cx="40513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583838"/>
            <a:ext cx="88392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485800"/>
            <a:ext cx="88392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99568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48768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89600" y="1600201"/>
            <a:ext cx="48768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5486400"/>
            <a:ext cx="5386917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8" y="5486400"/>
            <a:ext cx="5389033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1516912"/>
            <a:ext cx="5386917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516912"/>
            <a:ext cx="5389033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320"/>
            <a:ext cx="9960864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85528"/>
            <a:ext cx="42672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214424"/>
            <a:ext cx="36576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609600" y="1981200"/>
            <a:ext cx="94488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75264" y="6422065"/>
            <a:ext cx="10160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08976" y="1705709"/>
            <a:ext cx="4071824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420837" y="1019907"/>
            <a:ext cx="54864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08979" y="2998765"/>
            <a:ext cx="4071821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422065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>
            <a:spLocks/>
          </p:cNvSpPr>
          <p:nvPr/>
        </p:nvSpPr>
        <p:spPr bwMode="auto">
          <a:xfrm>
            <a:off x="0" y="4752126"/>
            <a:ext cx="12192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9753600" y="0"/>
            <a:ext cx="24384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600" y="274638"/>
            <a:ext cx="99568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9956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09600" y="6422065"/>
            <a:ext cx="28448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165600" y="6422065"/>
            <a:ext cx="38608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0871200" y="6422065"/>
            <a:ext cx="1016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ransition spd="slow">
    <p:fade/>
  </p:transition>
  <p:timing>
    <p:tnLst>
      <p:par>
        <p:cTn id="1" dur="indefinite" restart="never" nodeType="tmRoot"/>
      </p:par>
    </p:tnLst>
  </p:timing>
  <p:txStyles>
    <p:titleStyle>
      <a:lvl1pPr algn="l" rtl="0" eaLnBrk="1" latinLnBrk="0" hangingPunct="1">
        <a:spcBef>
          <a:spcPct val="0"/>
        </a:spcBef>
        <a:buNone/>
        <a:defRPr kumimoji="0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0190" y="1828801"/>
            <a:ext cx="8621143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/>
            </a:pPr>
            <a:r>
              <a:rPr dirty="0"/>
              <a:t>Customer Behavior &amp; Purchase Analysis</a:t>
            </a:r>
          </a:p>
          <a:p>
            <a:pPr algn="ctr">
              <a:defRPr sz="2200"/>
            </a:pPr>
            <a:r>
              <a:rPr dirty="0"/>
              <a:t>Power BI Data Analytics Project</a:t>
            </a:r>
          </a:p>
          <a:p>
            <a:pPr algn="ctr">
              <a:defRPr sz="1600"/>
            </a:pPr>
            <a:r>
              <a:rPr dirty="0"/>
              <a:t>Data Cleaning • Transformation • DAX • Visualization • Interactive Analysis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49967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1"/>
            <a:ext cx="10607040" cy="19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 dirty="0"/>
              <a:t>Objective</a:t>
            </a:r>
            <a:r>
              <a:rPr dirty="0" smtClean="0"/>
              <a:t>:</a:t>
            </a:r>
            <a:endParaRPr lang="en-US" dirty="0" smtClean="0"/>
          </a:p>
          <a:p>
            <a:pPr>
              <a:spcAft>
                <a:spcPts val="1000"/>
              </a:spcAft>
              <a:defRPr sz="1800"/>
            </a:pPr>
            <a:r>
              <a:rPr dirty="0" smtClean="0"/>
              <a:t> </a:t>
            </a:r>
            <a:r>
              <a:rPr lang="en-US" dirty="0" smtClean="0"/>
              <a:t>U</a:t>
            </a:r>
            <a:r>
              <a:rPr dirty="0" smtClean="0"/>
              <a:t>nderstand </a:t>
            </a:r>
            <a:r>
              <a:rPr dirty="0"/>
              <a:t>customer purchasing behavior and identify sales patterns.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Analyze customer segments, products, categories, payment methods, order status and sales trends.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Build an interactive Power BI dashboard for business-oriented decision making.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Use navigation, bookmarks, </a:t>
            </a:r>
            <a:r>
              <a:rPr dirty="0" err="1"/>
              <a:t>drillthrough</a:t>
            </a:r>
            <a:r>
              <a:rPr dirty="0"/>
              <a:t> and insight pages to make the report interactive.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1" y="320040"/>
            <a:ext cx="385874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1"/>
            <a:ext cx="10607040" cy="2416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Businesses generate large volumes of customer and transaction data but need clear dashboards to interpret it.</a:t>
            </a:r>
          </a:p>
          <a:p>
            <a:pPr>
              <a:spcAft>
                <a:spcPts val="1000"/>
              </a:spcAft>
              <a:defRPr sz="1800"/>
            </a:pPr>
            <a:r>
              <a:t>The project converts raw purchase records into meaningful KPIs, trends and customer insights.</a:t>
            </a:r>
          </a:p>
          <a:p>
            <a:pPr>
              <a:spcAft>
                <a:spcPts val="1000"/>
              </a:spcAft>
              <a:defRPr sz="1800"/>
            </a:pPr>
            <a:r>
              <a:t>The analysis helps identify high-value customers, popular products, strong categories and purchasing patterns.</a:t>
            </a:r>
          </a:p>
          <a:p>
            <a:pPr>
              <a:spcAft>
                <a:spcPts val="1000"/>
              </a:spcAft>
              <a:defRPr sz="1800"/>
            </a:pPr>
            <a:r>
              <a:t>Interactive features allow users to move from summary-level results to detailed customer/product analysis.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96294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Dataset Description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19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 dirty="0"/>
              <a:t>Source file: </a:t>
            </a:r>
            <a:r>
              <a:rPr lang="en-US" dirty="0" smtClean="0"/>
              <a:t>Customer </a:t>
            </a:r>
            <a:r>
              <a:rPr lang="en-US" dirty="0" err="1" smtClean="0"/>
              <a:t>behaviour</a:t>
            </a:r>
            <a:r>
              <a:rPr lang="en-US" dirty="0" smtClean="0"/>
              <a:t> and purchase Analysis.csv</a:t>
            </a:r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Records: 49,222 | Columns: 17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Customer information: </a:t>
            </a:r>
            <a:r>
              <a:rPr dirty="0" err="1"/>
              <a:t>CustomerID</a:t>
            </a:r>
            <a:r>
              <a:rPr dirty="0"/>
              <a:t>, Age, City, </a:t>
            </a:r>
            <a:r>
              <a:rPr dirty="0" err="1"/>
              <a:t>SignupDate</a:t>
            </a:r>
            <a:r>
              <a:rPr dirty="0"/>
              <a:t>, </a:t>
            </a:r>
            <a:r>
              <a:rPr dirty="0" err="1"/>
              <a:t>CustomerSegment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Transaction information: </a:t>
            </a:r>
            <a:r>
              <a:rPr dirty="0" err="1"/>
              <a:t>OrderID</a:t>
            </a:r>
            <a:r>
              <a:rPr dirty="0"/>
              <a:t>, </a:t>
            </a:r>
            <a:r>
              <a:rPr dirty="0" err="1"/>
              <a:t>OrderDate</a:t>
            </a:r>
            <a:r>
              <a:rPr dirty="0"/>
              <a:t>, </a:t>
            </a:r>
            <a:r>
              <a:rPr dirty="0" err="1"/>
              <a:t>ProductID</a:t>
            </a:r>
            <a:r>
              <a:rPr dirty="0"/>
              <a:t>, Quantity, Discount, </a:t>
            </a:r>
            <a:r>
              <a:rPr dirty="0" err="1"/>
              <a:t>PaymentMethod</a:t>
            </a:r>
            <a:r>
              <a:rPr dirty="0"/>
              <a:t>, Status.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Product information: </a:t>
            </a:r>
            <a:r>
              <a:rPr dirty="0" err="1"/>
              <a:t>ProductName</a:t>
            </a:r>
            <a:r>
              <a:rPr dirty="0"/>
              <a:t>, Category, </a:t>
            </a:r>
            <a:r>
              <a:rPr dirty="0" err="1"/>
              <a:t>UnitPrice</a:t>
            </a:r>
            <a:r>
              <a:rPr dirty="0"/>
              <a:t>, Sales, </a:t>
            </a:r>
            <a:r>
              <a:rPr dirty="0" err="1"/>
              <a:t>OrderValue</a:t>
            </a:r>
            <a:r>
              <a:rPr dirty="0"/>
              <a:t>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1" y="320040"/>
            <a:ext cx="426546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Tools &amp; Technologies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1"/>
            <a:ext cx="10607040" cy="19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 dirty="0"/>
              <a:t>Excel / CSV — source data and initial inspection.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Power Query — data cleaning, type conversion and transformation.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Power BI — data model, interactive dashboards and report navigation.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DAX — measures, KPIs and calculated analysis.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Power BI interactive features — page navigation, bookmarks, slicers and </a:t>
            </a:r>
            <a:r>
              <a:rPr dirty="0" err="1"/>
              <a:t>drillthrough</a:t>
            </a:r>
            <a:r>
              <a:rPr dirty="0"/>
              <a:t>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605749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Data Cleaning &amp; Transformation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1"/>
            <a:ext cx="10607040" cy="2672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Review column names, data types and missing/invalid values.</a:t>
            </a:r>
          </a:p>
          <a:p>
            <a:pPr>
              <a:spcAft>
                <a:spcPts val="1000"/>
              </a:spcAft>
              <a:defRPr sz="1800"/>
            </a:pPr>
            <a:r>
              <a:t>Convert OrderDate and SignupDate into proper Date data types.</a:t>
            </a:r>
          </a:p>
          <a:p>
            <a:pPr>
              <a:spcAft>
                <a:spcPts val="1000"/>
              </a:spcAft>
              <a:defRPr sz="1800"/>
            </a:pPr>
            <a:r>
              <a:t>Set numeric columns such as Quantity, Discount, UnitPrice, Sales and OrderValue to appropriate numeric types.</a:t>
            </a:r>
          </a:p>
          <a:p>
            <a:pPr>
              <a:spcAft>
                <a:spcPts val="1000"/>
              </a:spcAft>
              <a:defRPr sz="1800"/>
            </a:pPr>
            <a:r>
              <a:t>Check duplicate OrderID/CustomerID/ProductID values according to their intended business meaning.</a:t>
            </a:r>
          </a:p>
          <a:p>
            <a:pPr>
              <a:spcAft>
                <a:spcPts val="1000"/>
              </a:spcAft>
              <a:defRPr sz="1800"/>
            </a:pPr>
            <a:r>
              <a:t>Validate Sales and OrderValue calculations before creating DAX measures.</a:t>
            </a:r>
          </a:p>
          <a:p>
            <a:pPr>
              <a:spcAft>
                <a:spcPts val="1000"/>
              </a:spcAft>
              <a:defRPr sz="1800"/>
            </a:pPr>
            <a:r>
              <a:t>Load the cleaned data into Power BI for modeling and visualization.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250260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Data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1"/>
            <a:ext cx="10607040" cy="2949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 dirty="0" smtClean="0"/>
              <a:t>The </a:t>
            </a:r>
            <a:r>
              <a:rPr dirty="0"/>
              <a:t>dataset can be analyzed as a single transaction table.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Recommended model for a polished report: separate Customer, Product and Date dimensions where appropriate.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Customer table → </a:t>
            </a:r>
            <a:r>
              <a:rPr dirty="0" err="1"/>
              <a:t>CustomerID</a:t>
            </a:r>
            <a:r>
              <a:rPr dirty="0"/>
              <a:t>, customer attributes.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Product table → </a:t>
            </a:r>
            <a:r>
              <a:rPr dirty="0" err="1"/>
              <a:t>ProductID</a:t>
            </a:r>
            <a:r>
              <a:rPr dirty="0"/>
              <a:t>, </a:t>
            </a:r>
            <a:r>
              <a:rPr dirty="0" err="1"/>
              <a:t>ProductName</a:t>
            </a:r>
            <a:r>
              <a:rPr dirty="0"/>
              <a:t>, Category, </a:t>
            </a:r>
            <a:r>
              <a:rPr dirty="0" err="1"/>
              <a:t>UnitPrice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Date table → Date, Year, Quarter, Month, Month Name.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Orders / Sales fact table → </a:t>
            </a:r>
            <a:r>
              <a:rPr dirty="0" err="1"/>
              <a:t>OrderID</a:t>
            </a:r>
            <a:r>
              <a:rPr dirty="0"/>
              <a:t>, </a:t>
            </a:r>
            <a:r>
              <a:rPr dirty="0" err="1"/>
              <a:t>CustomerID</a:t>
            </a:r>
            <a:r>
              <a:rPr dirty="0"/>
              <a:t>, </a:t>
            </a:r>
            <a:r>
              <a:rPr dirty="0" err="1"/>
              <a:t>ProductID</a:t>
            </a:r>
            <a:r>
              <a:rPr dirty="0"/>
              <a:t>, </a:t>
            </a:r>
            <a:r>
              <a:rPr dirty="0" err="1"/>
              <a:t>OrderDate</a:t>
            </a:r>
            <a:r>
              <a:rPr dirty="0"/>
              <a:t>, Quantity, Discount, Sales, </a:t>
            </a:r>
            <a:r>
              <a:rPr dirty="0" err="1"/>
              <a:t>OrderValue</a:t>
            </a:r>
            <a:r>
              <a:rPr dirty="0"/>
              <a:t>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1" y="320040"/>
            <a:ext cx="386195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Key DAX Measures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1"/>
            <a:ext cx="10607040" cy="256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Total Sales = SUM(Sales)</a:t>
            </a:r>
          </a:p>
          <a:p>
            <a:pPr>
              <a:spcAft>
                <a:spcPts val="1000"/>
              </a:spcAft>
              <a:defRPr sz="1700"/>
            </a:pPr>
            <a:r>
              <a:t>Total Orders = DISTINCTCOUNT(OrderID)</a:t>
            </a:r>
          </a:p>
          <a:p>
            <a:pPr>
              <a:spcAft>
                <a:spcPts val="1000"/>
              </a:spcAft>
              <a:defRPr sz="1700"/>
            </a:pPr>
            <a:r>
              <a:t>Total Customers = DISTINCTCOUNT(CustomerID)</a:t>
            </a:r>
          </a:p>
          <a:p>
            <a:pPr>
              <a:spcAft>
                <a:spcPts val="1000"/>
              </a:spcAft>
              <a:defRPr sz="1700"/>
            </a:pPr>
            <a:r>
              <a:t>Total Quantity = SUM(Quantity)</a:t>
            </a:r>
          </a:p>
          <a:p>
            <a:pPr>
              <a:spcAft>
                <a:spcPts val="1000"/>
              </a:spcAft>
              <a:defRPr sz="1700"/>
            </a:pPr>
            <a:r>
              <a:t>Average Order Value = DIVIDE([Total Sales], [Total Orders])</a:t>
            </a:r>
          </a:p>
          <a:p>
            <a:pPr>
              <a:spcAft>
                <a:spcPts val="1000"/>
              </a:spcAft>
              <a:defRPr sz="1700"/>
            </a:pPr>
            <a:r>
              <a:t>Additional measures can be created for category sales, customer contribution, monthly sales and top products.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38105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Page Navigation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1"/>
            <a:ext cx="10607040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Home / Overview acts as the landing page.</a:t>
            </a:r>
          </a:p>
          <a:p>
            <a:pPr>
              <a:spcAft>
                <a:spcPts val="1000"/>
              </a:spcAft>
              <a:defRPr sz="1800"/>
            </a:pPr>
            <a:r>
              <a:t>Navigation buttons connect the report pages.</a:t>
            </a:r>
          </a:p>
          <a:p>
            <a:pPr>
              <a:spcAft>
                <a:spcPts val="1000"/>
              </a:spcAft>
              <a:defRPr sz="1800"/>
            </a:pPr>
            <a:r>
              <a:t>Suggested flow: Home → Customer Analysis → Purchase Analysis → Payment &amp; Orders → Sales Trends → Insights.</a:t>
            </a:r>
          </a:p>
          <a:p>
            <a:pPr>
              <a:spcAft>
                <a:spcPts val="1000"/>
              </a:spcAft>
              <a:defRPr sz="1800"/>
            </a:pPr>
            <a:r>
              <a:t>Back/Home buttons are included on analysis pages for easy movement through the report.</a:t>
            </a:r>
          </a:p>
          <a:p>
            <a:pPr>
              <a:spcAft>
                <a:spcPts val="1000"/>
              </a:spcAft>
              <a:defRPr sz="1800"/>
            </a:pPr>
            <a:r>
              <a:t>Purpose: make the report feel like an application rather than a collection of separate pages.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74173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Bookmark Feature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1585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Bookmarks save a specific report view, including visual visibility, filters and selections.</a:t>
            </a:r>
          </a:p>
          <a:p>
            <a:pPr>
              <a:spcAft>
                <a:spcPts val="1000"/>
              </a:spcAft>
              <a:defRPr sz="1800"/>
            </a:pPr>
            <a:r>
              <a:t>Create a Sales View bookmark and a Customer View bookmark on the overview page.</a:t>
            </a:r>
          </a:p>
          <a:p>
            <a:pPr>
              <a:spcAft>
                <a:spcPts val="1000"/>
              </a:spcAft>
              <a:defRPr sz="1800"/>
            </a:pPr>
            <a:r>
              <a:t>Buttons can switch between these views without leaving the page.</a:t>
            </a:r>
          </a:p>
          <a:p>
            <a:pPr>
              <a:spcAft>
                <a:spcPts val="1000"/>
              </a:spcAft>
              <a:defRPr sz="1800"/>
            </a:pPr>
            <a:r>
              <a:t>Bookmarks can also be used for show/hide filter panels or alternate visual layouts.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40486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Drillthrough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19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Customer Drillthrough: right-click a customer and open a detailed customer page.</a:t>
            </a:r>
          </a:p>
          <a:p>
            <a:pPr>
              <a:spcAft>
                <a:spcPts val="1000"/>
              </a:spcAft>
              <a:defRPr sz="1800"/>
            </a:pPr>
            <a:r>
              <a:t>Display customer segment, city, age, order count, sales contribution and purchase history.</a:t>
            </a:r>
          </a:p>
          <a:p>
            <a:pPr>
              <a:spcAft>
                <a:spcPts val="1000"/>
              </a:spcAft>
              <a:defRPr sz="1800"/>
            </a:pPr>
            <a:r>
              <a:t>Product Drillthrough: right-click a product and open a product details page.</a:t>
            </a:r>
          </a:p>
          <a:p>
            <a:pPr>
              <a:spcAft>
                <a:spcPts val="1000"/>
              </a:spcAft>
              <a:defRPr sz="1800"/>
            </a:pPr>
            <a:r>
              <a:t>Display category, quantity sold, sales, order count and sales trend.</a:t>
            </a:r>
          </a:p>
          <a:p>
            <a:pPr>
              <a:spcAft>
                <a:spcPts val="1000"/>
              </a:spcAft>
              <a:defRPr sz="1800"/>
            </a:pPr>
            <a:r>
              <a:t>Use a Back button to return to the source analysis page.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71738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11. Power BI Report Pages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23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Page 1 — Home / Overview: KPIs, navigation buttons and bookmarked views.</a:t>
            </a:r>
          </a:p>
          <a:p>
            <a:pPr>
              <a:spcAft>
                <a:spcPts val="1000"/>
              </a:spcAft>
              <a:defRPr sz="1800"/>
            </a:pPr>
            <a:r>
              <a:t>Page 2 — Customer Analysis: customer segments, age groups, cities and customer KPIs.</a:t>
            </a:r>
          </a:p>
          <a:p>
            <a:pPr>
              <a:spcAft>
                <a:spcPts val="1000"/>
              </a:spcAft>
              <a:defRPr sz="1800"/>
            </a:pPr>
            <a:r>
              <a:t>Page 3 — Purchase Analysis: category sales, top products, quantity and discounts.</a:t>
            </a:r>
          </a:p>
          <a:p>
            <a:pPr>
              <a:spcAft>
                <a:spcPts val="1000"/>
              </a:spcAft>
              <a:defRPr sz="1800"/>
            </a:pPr>
            <a:r>
              <a:t>Page 4 — Payment &amp; Order Analysis: payment methods and order status.</a:t>
            </a:r>
          </a:p>
          <a:p>
            <a:pPr>
              <a:spcAft>
                <a:spcPts val="1000"/>
              </a:spcAft>
              <a:defRPr sz="1800"/>
            </a:pPr>
            <a:r>
              <a:t>Page 5 — Sales Trends: monthly/period sales and order trends with slicers.</a:t>
            </a:r>
          </a:p>
          <a:p>
            <a:pPr>
              <a:spcAft>
                <a:spcPts val="1000"/>
              </a:spcAft>
              <a:defRPr sz="1800"/>
            </a:pPr>
            <a:r>
              <a:t>Page 6 — Insights: business findings and recommendations.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02815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12. Customer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23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KPIs: Total Customers, Total Orders, Total Sales and Average Order Value.</a:t>
            </a:r>
          </a:p>
          <a:p>
            <a:pPr>
              <a:spcAft>
                <a:spcPts val="1000"/>
              </a:spcAft>
              <a:defRPr sz="1800"/>
            </a:pPr>
            <a:r>
              <a:t>Customer Segment distribution using a donut/bar chart.</a:t>
            </a:r>
          </a:p>
          <a:p>
            <a:pPr>
              <a:spcAft>
                <a:spcPts val="1000"/>
              </a:spcAft>
              <a:defRPr sz="1800"/>
            </a:pPr>
            <a:r>
              <a:t>Age-group analysis using a column chart.</a:t>
            </a:r>
          </a:p>
          <a:p>
            <a:pPr>
              <a:spcAft>
                <a:spcPts val="1000"/>
              </a:spcAft>
              <a:defRPr sz="1800"/>
            </a:pPr>
            <a:r>
              <a:t>Customer distribution by City using a bar chart/map where appropriate.</a:t>
            </a:r>
          </a:p>
          <a:p>
            <a:pPr>
              <a:spcAft>
                <a:spcPts val="1000"/>
              </a:spcAft>
              <a:defRPr sz="1800"/>
            </a:pPr>
            <a:r>
              <a:t>Signup trend using a line chart.</a:t>
            </a:r>
          </a:p>
          <a:p>
            <a:pPr>
              <a:spcAft>
                <a:spcPts val="1000"/>
              </a:spcAft>
              <a:defRPr sz="1800"/>
            </a:pPr>
            <a:r>
              <a:t>Customer Details page connected through drillthrough.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1" y="320040"/>
            <a:ext cx="396884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13. Purchase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23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Sales by Category to identify high-performing product groups.</a:t>
            </a:r>
          </a:p>
          <a:p>
            <a:pPr>
              <a:spcAft>
                <a:spcPts val="1000"/>
              </a:spcAft>
              <a:defRPr sz="1800"/>
            </a:pPr>
            <a:r>
              <a:t>Top 10 Products by Sales or Quantity.</a:t>
            </a:r>
          </a:p>
          <a:p>
            <a:pPr>
              <a:spcAft>
                <a:spcPts val="1000"/>
              </a:spcAft>
              <a:defRPr sz="1800"/>
            </a:pPr>
            <a:r>
              <a:t>Monthly Sales Trend using OrderDate.</a:t>
            </a:r>
          </a:p>
          <a:p>
            <a:pPr>
              <a:spcAft>
                <a:spcPts val="1000"/>
              </a:spcAft>
              <a:defRPr sz="1800"/>
            </a:pPr>
            <a:r>
              <a:t>Quantity Sold by Category.</a:t>
            </a:r>
          </a:p>
          <a:p>
            <a:pPr>
              <a:spcAft>
                <a:spcPts val="1000"/>
              </a:spcAft>
              <a:defRPr sz="1800"/>
            </a:pPr>
            <a:r>
              <a:t>Discount versus Sales to explore promotional impact.</a:t>
            </a:r>
          </a:p>
          <a:p>
            <a:pPr>
              <a:spcAft>
                <a:spcPts val="1000"/>
              </a:spcAft>
              <a:defRPr sz="1800"/>
            </a:pPr>
            <a:r>
              <a:t>Product Details drillthrough for deeper analysis.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28490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14. Payment &amp; Order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1"/>
            <a:ext cx="10607040" cy="19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Compare sales and order volume across payment methods.</a:t>
            </a:r>
          </a:p>
          <a:p>
            <a:pPr>
              <a:spcAft>
                <a:spcPts val="1000"/>
              </a:spcAft>
              <a:defRPr sz="1800"/>
            </a:pPr>
            <a:r>
              <a:t>Analyze order status distribution.</a:t>
            </a:r>
          </a:p>
          <a:p>
            <a:pPr>
              <a:spcAft>
                <a:spcPts val="1000"/>
              </a:spcAft>
              <a:defRPr sz="1800"/>
            </a:pPr>
            <a:r>
              <a:t>Compare sales contribution by order status.</a:t>
            </a:r>
          </a:p>
          <a:p>
            <a:pPr>
              <a:spcAft>
                <a:spcPts val="1000"/>
              </a:spcAft>
              <a:defRPr sz="1800"/>
            </a:pPr>
            <a:r>
              <a:t>Identify the most frequently used payment method.</a:t>
            </a:r>
          </a:p>
          <a:p>
            <a:pPr>
              <a:spcAft>
                <a:spcPts val="1000"/>
              </a:spcAft>
              <a:defRPr sz="1800"/>
            </a:pPr>
            <a:r>
              <a:t>Add slicers for Date, Category, City, Customer Segment, Payment Method and Status.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36741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15. Sales Trend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19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Track sales over time using monthly and yearly trends.</a:t>
            </a:r>
          </a:p>
          <a:p>
            <a:pPr>
              <a:spcAft>
                <a:spcPts val="1000"/>
              </a:spcAft>
              <a:defRPr sz="1800"/>
            </a:pPr>
            <a:r>
              <a:t>Compare order volume with sales performance.</a:t>
            </a:r>
          </a:p>
          <a:p>
            <a:pPr>
              <a:spcAft>
                <a:spcPts val="1000"/>
              </a:spcAft>
              <a:defRPr sz="1800"/>
            </a:pPr>
            <a:r>
              <a:t>Analyze category performance over time.</a:t>
            </a:r>
          </a:p>
          <a:p>
            <a:pPr>
              <a:spcAft>
                <a:spcPts val="1000"/>
              </a:spcAft>
              <a:defRPr sz="1800"/>
            </a:pPr>
            <a:r>
              <a:t>Use date and category slicers for interactive exploration.</a:t>
            </a:r>
          </a:p>
          <a:p>
            <a:pPr>
              <a:spcAft>
                <a:spcPts val="1000"/>
              </a:spcAft>
              <a:defRPr sz="1800"/>
            </a:pPr>
            <a:r>
              <a:t>Use a proper Date table and time-intelligence measures when needed.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1" y="320040"/>
            <a:ext cx="386195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16. Business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23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Identify customer segments that contribute the most sales.</a:t>
            </a:r>
          </a:p>
          <a:p>
            <a:pPr>
              <a:spcAft>
                <a:spcPts val="1000"/>
              </a:spcAft>
              <a:defRPr sz="1800"/>
            </a:pPr>
            <a:r>
              <a:t>Identify products and categories with the highest purchase volume.</a:t>
            </a:r>
          </a:p>
          <a:p>
            <a:pPr>
              <a:spcAft>
                <a:spcPts val="1000"/>
              </a:spcAft>
              <a:defRPr sz="1800"/>
            </a:pPr>
            <a:r>
              <a:t>Determine the most preferred payment methods.</a:t>
            </a:r>
          </a:p>
          <a:p>
            <a:pPr>
              <a:spcAft>
                <a:spcPts val="1000"/>
              </a:spcAft>
              <a:defRPr sz="1800"/>
            </a:pPr>
            <a:r>
              <a:t>Identify cities or locations with stronger customer activity.</a:t>
            </a:r>
          </a:p>
          <a:p>
            <a:pPr>
              <a:spcAft>
                <a:spcPts val="1000"/>
              </a:spcAft>
              <a:defRPr sz="1800"/>
            </a:pPr>
            <a:r>
              <a:t>Study whether discounts are associated with higher order values or sales.</a:t>
            </a:r>
          </a:p>
          <a:p>
            <a:pPr>
              <a:spcAft>
                <a:spcPts val="1000"/>
              </a:spcAft>
              <a:defRPr sz="1800"/>
            </a:pPr>
            <a:r>
              <a:t>Use the final Power BI results to replace these analysis targets with exact, data-backed findings.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00141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17.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1"/>
            <a:ext cx="10607040" cy="19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Focus marketing efforts on high-value and frequently purchasing customer segments.</a:t>
            </a:r>
          </a:p>
          <a:p>
            <a:pPr>
              <a:spcAft>
                <a:spcPts val="1000"/>
              </a:spcAft>
              <a:defRPr sz="1800"/>
            </a:pPr>
            <a:r>
              <a:t>Promote high-performing products while investigating low-performing products.</a:t>
            </a:r>
          </a:p>
          <a:p>
            <a:pPr>
              <a:spcAft>
                <a:spcPts val="1000"/>
              </a:spcAft>
              <a:defRPr sz="1800"/>
            </a:pPr>
            <a:r>
              <a:t>Use category-level trends to plan inventory and promotions.</a:t>
            </a:r>
          </a:p>
          <a:p>
            <a:pPr>
              <a:spcAft>
                <a:spcPts val="1000"/>
              </a:spcAft>
              <a:defRPr sz="1800"/>
            </a:pPr>
            <a:r>
              <a:t>Optimize digital payment experiences based on customer preference.</a:t>
            </a:r>
          </a:p>
          <a:p>
            <a:pPr>
              <a:spcAft>
                <a:spcPts val="1000"/>
              </a:spcAft>
              <a:defRPr sz="1800"/>
            </a:pPr>
            <a:r>
              <a:t>Use targeted offers carefully and evaluate their effect on sales and order value.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274145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18.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1"/>
            <a:ext cx="10607040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The project transforms customer and purchase data into an interactive business intelligence report.</a:t>
            </a:r>
          </a:p>
          <a:p>
            <a:pPr>
              <a:spcAft>
                <a:spcPts val="1000"/>
              </a:spcAft>
              <a:defRPr sz="1800"/>
            </a:pPr>
            <a:r>
              <a:t>Power Query improves data quality and prepares the dataset for analysis.</a:t>
            </a:r>
          </a:p>
          <a:p>
            <a:pPr>
              <a:spcAft>
                <a:spcPts val="1000"/>
              </a:spcAft>
              <a:defRPr sz="1800"/>
            </a:pPr>
            <a:r>
              <a:t>DAX provides reusable KPIs and analytical measures.</a:t>
            </a:r>
          </a:p>
          <a:p>
            <a:pPr>
              <a:spcAft>
                <a:spcPts val="1000"/>
              </a:spcAft>
              <a:defRPr sz="1800"/>
            </a:pPr>
            <a:r>
              <a:t>Power BI visuals reveal customer behavior, product performance and sales trends.</a:t>
            </a:r>
          </a:p>
          <a:p>
            <a:pPr>
              <a:spcAft>
                <a:spcPts val="1000"/>
              </a:spcAft>
              <a:defRPr sz="1800"/>
            </a:pPr>
            <a:r>
              <a:t>Navigation, bookmarks and drillthrough improve usability and allow both summary and detailed analysis.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1" y="320040"/>
            <a:ext cx="555632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19. Project Demonstration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1"/>
            <a:ext cx="1060704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1. Introduce the business objective and dataset.</a:t>
            </a:r>
          </a:p>
          <a:p>
            <a:pPr>
              <a:spcAft>
                <a:spcPts val="1000"/>
              </a:spcAft>
              <a:defRPr sz="1800"/>
            </a:pPr>
            <a:r>
              <a:t>2. Show Power Query cleaning and data types.</a:t>
            </a:r>
          </a:p>
          <a:p>
            <a:pPr>
              <a:spcAft>
                <a:spcPts val="1000"/>
              </a:spcAft>
              <a:defRPr sz="1800"/>
            </a:pPr>
            <a:r>
              <a:t>3. Explain the data model and key DAX measures.</a:t>
            </a:r>
          </a:p>
          <a:p>
            <a:pPr>
              <a:spcAft>
                <a:spcPts val="1000"/>
              </a:spcAft>
              <a:defRPr sz="1800"/>
            </a:pPr>
            <a:r>
              <a:t>4. Demonstrate Home page and page navigation.</a:t>
            </a:r>
          </a:p>
          <a:p>
            <a:pPr>
              <a:spcAft>
                <a:spcPts val="1000"/>
              </a:spcAft>
              <a:defRPr sz="1800"/>
            </a:pPr>
            <a:r>
              <a:t>5. Demonstrate bookmarks by switching between report views.</a:t>
            </a:r>
          </a:p>
          <a:p>
            <a:pPr>
              <a:spcAft>
                <a:spcPts val="1000"/>
              </a:spcAft>
              <a:defRPr sz="1800"/>
            </a:pPr>
            <a:r>
              <a:t>6. Demonstrate customer/product drillthrough.</a:t>
            </a:r>
          </a:p>
          <a:p>
            <a:pPr>
              <a:spcAft>
                <a:spcPts val="1000"/>
              </a:spcAft>
              <a:defRPr sz="1800"/>
            </a:pPr>
            <a:r>
              <a:t>7. Show interactive slicers and final insights.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echnic">
  <a:themeElements>
    <a:clrScheme name="Technic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Technic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</Template>
  <TotalTime>19</TotalTime>
  <Words>1247</Words>
  <Application>Microsoft Office PowerPoint</Application>
  <PresentationFormat>Custom</PresentationFormat>
  <Paragraphs>124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Technic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Akshaya Akshu</dc:creator>
  <dc:description>generated using python-pptx</dc:description>
  <cp:lastModifiedBy>user</cp:lastModifiedBy>
  <cp:revision>4</cp:revision>
  <dcterms:created xsi:type="dcterms:W3CDTF">2013-01-27T09:14:16Z</dcterms:created>
  <dcterms:modified xsi:type="dcterms:W3CDTF">2026-09-19T17:33:18Z</dcterms:modified>
</cp:coreProperties>
</file>